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6d258f4cdf48ac" /><Relationship Type="http://schemas.openxmlformats.org/officeDocument/2006/relationships/extended-properties" Target="/docProps/app.xml" Id="Rb8fc64e516d14bad" /><Relationship Type="http://schemas.openxmlformats.org/officeDocument/2006/relationships/officeDocument" Target="/ppt/presentation.xml" Id="R125586c529c443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0d0dff50f04f39"/>
  </p:sldMasterIdLst>
  <p:notesMasterIdLst>
    <p:notesMasterId xmlns:r="http://schemas.openxmlformats.org/officeDocument/2006/relationships" r:id="Rfd51754552fb40b5"/>
  </p:notesMasterIdLst>
  <p:sldIdLst>
    <p:sldId xmlns:r="http://schemas.openxmlformats.org/officeDocument/2006/relationships" id="256" r:id="R7eb65ccf5d1e422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f2d316c94c4453" /><Relationship Type="http://schemas.openxmlformats.org/officeDocument/2006/relationships/slideMaster" Target="/ppt/slideMasters/slideMaster1.xml" Id="Rdd0d0dff50f04f39" /><Relationship Type="http://schemas.openxmlformats.org/officeDocument/2006/relationships/notesMaster" Target="/ppt/notesMasters/notesMaster1.xml" Id="Rfd51754552fb40b5" /><Relationship Type="http://schemas.openxmlformats.org/officeDocument/2006/relationships/presProps" Target="/ppt/presProps.xml" Id="R787cc1a73fa64c72" /><Relationship Type="http://schemas.openxmlformats.org/officeDocument/2006/relationships/tableStyles" Target="/ppt/tableStyles.xml" Id="R386cbfdb6446477b" /><Relationship Type="http://schemas.openxmlformats.org/officeDocument/2006/relationships/slide" Target="/ppt/slides/slide1.xml" Id="R7eb65ccf5d1e42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ad9b2a4ce14f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a21d19d4094b19" /><Relationship Type="http://schemas.openxmlformats.org/officeDocument/2006/relationships/notesMaster" Target="/ppt/notesMasters/notesMaster1.xml" Id="R86f758dd971049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README.md, pipeline/src/money_graph/pipeline.py, lib/server/run-analysis.ts, app/api/assistant/route.ts текущего репозитория STRATA. Данные организаторов: 81 seed, 2248 узлов. Обязательное требование трека: один слайд данные → метрики → роли → интерфейс. Пайплайн работает без LLM. AI — опциональный маршрутизатор ограниченных запросов через OpenAI; граф, суммы и parquet не передаются модели. Структурная гипотеза не устанавливает виновность.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f8644efad644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7e45593d5e403f" /><Relationship Type="http://schemas.openxmlformats.org/officeDocument/2006/relationships/slideLayout" Target="/ppt/slideLayouts/slideLayout1.xml" Id="Re0f9e0b2ec2f45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f9e0b2ec2f45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5812c86604169" /><Relationship Type="http://schemas.openxmlformats.org/officeDocument/2006/relationships/notesSlide" Target="/ppt/notesSlides/notesSlide1.xml" Id="Reb7e3ad3b1384e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rand">
            <a:extLst xmlns:a="http://schemas.openxmlformats.org/drawingml/2006/main">
              <a:ext uri="{FF2B5EF4-FFF2-40B4-BE49-F238E27FC236}">
                <a16:creationId xmlns:a16="http://schemas.microsoft.com/office/drawing/2014/main" id="{1B08D72C-75D4-450E-BB4A-5E73C25D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47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ECE8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ECE8E1"/>
                </a:solidFill>
                <a:latin typeface="Helvetica Neue"/>
                <a:ea typeface="Helvetica Neue"/>
                <a:cs typeface="Helvetica Neue"/>
              </a:rPr>
              <a:t>STRATA</a:t>
            </a:r>
          </a:p>
        </p:txBody>
      </p:sp>
      <p:sp>
        <p:nvSpPr>
          <p:cNvPr id="2" name="subject">
            <a:extLst xmlns:a="http://schemas.openxmlformats.org/drawingml/2006/main">
              <a:ext uri="{FF2B5EF4-FFF2-40B4-BE49-F238E27FC236}">
                <a16:creationId xmlns:a16="http://schemas.microsoft.com/office/drawing/2014/main" id="{293AF09D-13AA-4C0B-907B-D1807FE7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362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ECE8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ECE8E1"/>
                </a:solidFill>
                <a:latin typeface="Helvetica Neue"/>
                <a:ea typeface="Helvetica Neue"/>
                <a:cs typeface="Helvetica Neue"/>
              </a:rPr>
              <a:t>Схема исследования денежных потоков</a:t>
            </a:r>
          </a:p>
        </p:txBody>
      </p:sp>
      <p:sp>
        <p:nvSpPr>
          <p:cNvPr id="3" name="stage-0">
            <a:extLst xmlns:a="http://schemas.openxmlformats.org/drawingml/2006/main">
              <a:ext uri="{FF2B5EF4-FFF2-40B4-BE49-F238E27FC236}">
                <a16:creationId xmlns:a16="http://schemas.microsoft.com/office/drawing/2014/main" id="{C5494116-8245-4B54-83A5-21D9AFE9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rPr>
              <a:t>ДАННЫЕ</a:t>
            </a:r>
          </a:p>
        </p:txBody>
      </p:sp>
      <p:sp>
        <p:nvSpPr>
          <p:cNvPr id="4" name="process-0">
            <a:extLst xmlns:a="http://schemas.openxmlformats.org/drawingml/2006/main">
              <a:ext uri="{FF2B5EF4-FFF2-40B4-BE49-F238E27FC236}">
                <a16:creationId xmlns:a16="http://schemas.microsoft.com/office/drawing/2014/main" id="{BA8F5CFC-A5F5-4BA8-8AA4-66777CA1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2914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B"/>
          </a:solidFill>
          <a:ln xmlns:a="http://schemas.openxmlformats.org/drawingml/2006/main" w="9525">
            <a:solidFill>
              <a:srgbClr val="353840"/>
            </a:solidFill>
          </a:ln>
        </p:spPr>
      </p:sp>
      <p:sp>
        <p:nvSpPr>
          <p:cNvPr id="5" name="title-0">
            <a:extLst xmlns:a="http://schemas.openxmlformats.org/drawingml/2006/main">
              <a:ext uri="{FF2B5EF4-FFF2-40B4-BE49-F238E27FC236}">
                <a16:creationId xmlns:a16="http://schemas.microsoft.com/office/drawing/2014/main" id="{AEC197BA-17DC-454B-A391-0FF23EB5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194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CE8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ECE8E1"/>
                </a:solidFill>
                <a:latin typeface="Helvetica Neue"/>
                <a:ea typeface="Helvetica Neue"/>
                <a:cs typeface="Helvetica Neue"/>
              </a:rPr>
              <a:t>3 parquet-файла</a:t>
            </a:r>
          </a:p>
        </p:txBody>
      </p:sp>
      <p:sp>
        <p:nvSpPr>
          <p:cNvPr id="6" name="detail-0">
            <a:extLst xmlns:a="http://schemas.openxmlformats.org/drawingml/2006/main">
              <a:ext uri="{FF2B5EF4-FFF2-40B4-BE49-F238E27FC236}">
                <a16:creationId xmlns:a16="http://schemas.microsoft.com/office/drawing/2014/main" id="{D3F1C568-BB60-4A46-9CA7-D8E67DDC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31908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rPr>
              <a:t>Переводы и связи</a:t>
            </a:r>
          </a:p>
          <a:p xmlns:a="http://schemas.openxmlformats.org/drawingml/2006/main">
            <a:pPr>
              <a:def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rPr>
              <a:t>81 исходный клиент</a:t>
            </a:r>
          </a:p>
          <a:p xmlns:a="http://schemas.openxmlformats.org/drawingml/2006/main">
            <a:pPr>
              <a:def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rPr>
              <a:t>Глубина: 4 колена</a:t>
            </a:r>
          </a:p>
        </p:txBody>
      </p:sp>
      <p:sp>
        <p:nvSpPr>
          <p:cNvPr id="7" name="stage-1">
            <a:extLst xmlns:a="http://schemas.openxmlformats.org/drawingml/2006/main">
              <a:ext uri="{FF2B5EF4-FFF2-40B4-BE49-F238E27FC236}">
                <a16:creationId xmlns:a16="http://schemas.microsoft.com/office/drawing/2014/main" id="{69ADB92A-315C-4E1C-BC57-723BE054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527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rPr>
              <a:t>МЕТРИКИ</a:t>
            </a:r>
          </a:p>
        </p:txBody>
      </p:sp>
      <p:sp>
        <p:nvSpPr>
          <p:cNvPr id="8" name="process-1">
            <a:extLst xmlns:a="http://schemas.openxmlformats.org/drawingml/2006/main">
              <a:ext uri="{FF2B5EF4-FFF2-40B4-BE49-F238E27FC236}">
                <a16:creationId xmlns:a16="http://schemas.microsoft.com/office/drawing/2014/main" id="{DEFE735C-F74F-4129-A762-9F0BBA57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90875"/>
            <a:ext cx="2914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B"/>
          </a:solidFill>
          <a:ln xmlns:a="http://schemas.openxmlformats.org/drawingml/2006/main" w="9525">
            <a:solidFill>
              <a:srgbClr val="353840"/>
            </a:solidFill>
          </a:ln>
        </p:spPr>
      </p:sp>
      <p:sp>
        <p:nvSpPr>
          <p:cNvPr id="9" name="title-1">
            <a:extLst xmlns:a="http://schemas.openxmlformats.org/drawingml/2006/main">
              <a:ext uri="{FF2B5EF4-FFF2-40B4-BE49-F238E27FC236}">
                <a16:creationId xmlns:a16="http://schemas.microsoft.com/office/drawing/2014/main" id="{7FCDB6D6-5A8F-4C7B-AA27-B00CEE1B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194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CE8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ECE8E1"/>
                </a:solidFill>
                <a:latin typeface="Helvetica Neue"/>
                <a:ea typeface="Helvetica Neue"/>
                <a:cs typeface="Helvetica Neue"/>
              </a:rPr>
              <a:t>Python + NetworkX</a:t>
            </a:r>
          </a:p>
        </p:txBody>
      </p:sp>
      <p:sp>
        <p:nvSpPr>
          <p:cNvPr id="10" name="detail-1">
            <a:extLst xmlns:a="http://schemas.openxmlformats.org/drawingml/2006/main">
              <a:ext uri="{FF2B5EF4-FFF2-40B4-BE49-F238E27FC236}">
                <a16:creationId xmlns:a16="http://schemas.microsoft.com/office/drawing/2014/main" id="{E37D88F6-15D1-436A-916C-61E23012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14825"/>
            <a:ext cx="31908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rPr>
              <a:t>Степени и обороты</a:t>
            </a:r>
          </a:p>
          <a:p xmlns:a="http://schemas.openxmlformats.org/drawingml/2006/main">
            <a:pPr>
              <a:def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rPr>
              <a:t>Центральности</a:t>
            </a:r>
          </a:p>
          <a:p xmlns:a="http://schemas.openxmlformats.org/drawingml/2006/main">
            <a:pPr>
              <a:def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rPr>
              <a:t>Временные признаки</a:t>
            </a:r>
          </a:p>
        </p:txBody>
      </p:sp>
      <p:sp>
        <p:nvSpPr>
          <p:cNvPr id="11" name="stage-2">
            <a:extLst xmlns:a="http://schemas.openxmlformats.org/drawingml/2006/main">
              <a:ext uri="{FF2B5EF4-FFF2-40B4-BE49-F238E27FC236}">
                <a16:creationId xmlns:a16="http://schemas.microsoft.com/office/drawing/2014/main" id="{D45DB83E-5982-45AA-9D6C-BCA3920B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527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rPr>
              <a:t>РОЛИ</a:t>
            </a:r>
          </a:p>
        </p:txBody>
      </p:sp>
      <p:sp>
        <p:nvSpPr>
          <p:cNvPr id="12" name="process-2">
            <a:extLst xmlns:a="http://schemas.openxmlformats.org/drawingml/2006/main">
              <a:ext uri="{FF2B5EF4-FFF2-40B4-BE49-F238E27FC236}">
                <a16:creationId xmlns:a16="http://schemas.microsoft.com/office/drawing/2014/main" id="{E6102D19-BF79-4159-9BAB-905AF0E4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90875"/>
            <a:ext cx="2914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B"/>
          </a:solidFill>
          <a:ln xmlns:a="http://schemas.openxmlformats.org/drawingml/2006/main" w="9525">
            <a:solidFill>
              <a:srgbClr val="353840"/>
            </a:solidFill>
          </a:ln>
        </p:spPr>
      </p:sp>
      <p:sp>
        <p:nvSpPr>
          <p:cNvPr id="13" name="title-2">
            <a:extLst xmlns:a="http://schemas.openxmlformats.org/drawingml/2006/main">
              <a:ext uri="{FF2B5EF4-FFF2-40B4-BE49-F238E27FC236}">
                <a16:creationId xmlns:a16="http://schemas.microsoft.com/office/drawing/2014/main" id="{A1845DDF-29F8-4BBB-94F9-5489F596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194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CE8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ECE8E1"/>
                </a:solidFill>
                <a:latin typeface="Helvetica Neue"/>
                <a:ea typeface="Helvetica Neue"/>
                <a:cs typeface="Helvetica Neue"/>
              </a:rPr>
              <a:t>Правила с порогами</a:t>
            </a:r>
          </a:p>
        </p:txBody>
      </p:sp>
      <p:sp>
        <p:nvSpPr>
          <p:cNvPr id="14" name="detail-2">
            <a:extLst xmlns:a="http://schemas.openxmlformats.org/drawingml/2006/main">
              <a:ext uri="{FF2B5EF4-FFF2-40B4-BE49-F238E27FC236}">
                <a16:creationId xmlns:a16="http://schemas.microsoft.com/office/drawing/2014/main" id="{646B895B-3472-4BC8-B9FE-EAE40B1B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14825"/>
            <a:ext cx="31908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rPr>
              <a:t>6 ролей с обоснованием</a:t>
            </a:r>
          </a:p>
          <a:p xmlns:a="http://schemas.openxmlformats.org/drawingml/2006/main">
            <a:pPr>
              <a:def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rPr>
              <a:t>Кластеры и приоритет</a:t>
            </a:r>
          </a:p>
          <a:p xmlns:a="http://schemas.openxmlformats.org/drawingml/2006/main">
            <a:pPr>
              <a:def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rPr>
              <a:t>Учёт обрыва графа</a:t>
            </a:r>
          </a:p>
        </p:txBody>
      </p:sp>
      <p:sp>
        <p:nvSpPr>
          <p:cNvPr id="15" name="stage-3">
            <a:extLst xmlns:a="http://schemas.openxmlformats.org/drawingml/2006/main">
              <a:ext uri="{FF2B5EF4-FFF2-40B4-BE49-F238E27FC236}">
                <a16:creationId xmlns:a16="http://schemas.microsoft.com/office/drawing/2014/main" id="{52F175C6-B0DE-42E0-927C-7C8794D7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25527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rPr>
              <a:t>ИНТЕРФЕЙС</a:t>
            </a:r>
          </a:p>
        </p:txBody>
      </p:sp>
      <p:sp>
        <p:nvSpPr>
          <p:cNvPr id="16" name="process-3">
            <a:extLst xmlns:a="http://schemas.openxmlformats.org/drawingml/2006/main">
              <a:ext uri="{FF2B5EF4-FFF2-40B4-BE49-F238E27FC236}">
                <a16:creationId xmlns:a16="http://schemas.microsoft.com/office/drawing/2014/main" id="{764F0FC6-7E5C-43DA-9625-DBD7C965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3190875"/>
            <a:ext cx="2914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B"/>
          </a:solidFill>
          <a:ln xmlns:a="http://schemas.openxmlformats.org/drawingml/2006/main" w="9525">
            <a:solidFill>
              <a:srgbClr val="353840"/>
            </a:solidFill>
          </a:ln>
        </p:spPr>
      </p:sp>
      <p:sp>
        <p:nvSpPr>
          <p:cNvPr id="17" name="title-3">
            <a:extLst xmlns:a="http://schemas.openxmlformats.org/drawingml/2006/main">
              <a:ext uri="{FF2B5EF4-FFF2-40B4-BE49-F238E27FC236}">
                <a16:creationId xmlns:a16="http://schemas.microsoft.com/office/drawing/2014/main" id="{B650B993-2D22-4F8F-893E-CBA7A074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34194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CE8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ECE8E1"/>
                </a:solidFill>
                <a:latin typeface="Helvetica Neue"/>
                <a:ea typeface="Helvetica Neue"/>
                <a:cs typeface="Helvetica Neue"/>
              </a:rPr>
              <a:t>Next.js + ORION HUD</a:t>
            </a:r>
          </a:p>
        </p:txBody>
      </p:sp>
      <p:sp>
        <p:nvSpPr>
          <p:cNvPr id="18" name="detail-3">
            <a:extLst xmlns:a="http://schemas.openxmlformats.org/drawingml/2006/main">
              <a:ext uri="{FF2B5EF4-FFF2-40B4-BE49-F238E27FC236}">
                <a16:creationId xmlns:a16="http://schemas.microsoft.com/office/drawing/2014/main" id="{5C3CA14D-8CCC-4E56-B420-BA756B8A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4314825"/>
            <a:ext cx="31908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rPr>
              <a:t>Направленные потоки</a:t>
            </a:r>
          </a:p>
          <a:p xmlns:a="http://schemas.openxmlformats.org/drawingml/2006/main">
            <a:pPr>
              <a:def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rPr>
              <a:t>Поиск и карточка GID</a:t>
            </a:r>
          </a:p>
          <a:p xmlns:a="http://schemas.openxmlformats.org/drawingml/2006/main">
            <a:pPr>
              <a:def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rPr>
              <a:t>Список проверки и CSV</a:t>
            </a:r>
          </a:p>
        </p:txBody>
      </p:sp>
      <p:cxnSp>
        <p:nvCxnSpPr>
          <p:cNvPr id="44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00450" y="3609975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EC9FF"/>
            </a:solidFill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248525" y="3609975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EC9FF"/>
            </a:solidFill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0896600" y="3609975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EC9FF"/>
            </a:solidFill>
            <a:tailEnd type="arrow" w="med" len="med"/>
          </a:ln>
        </p:spPr>
      </p:cxnSp>
      <p:sp>
        <p:nvSpPr>
          <p:cNvPr id="22" name="exports-label">
            <a:extLst xmlns:a="http://schemas.openxmlformats.org/drawingml/2006/main">
              <a:ext uri="{FF2B5EF4-FFF2-40B4-BE49-F238E27FC236}">
                <a16:creationId xmlns:a16="http://schemas.microsoft.com/office/drawing/2014/main" id="{B23E48DD-E5D3-48DC-BDB7-A816D1F5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EC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8EC9FF"/>
                </a:solidFill>
                <a:latin typeface="Helvetica Neue"/>
                <a:ea typeface="Helvetica Neue"/>
                <a:cs typeface="Helvetica Neue"/>
              </a:rPr>
              <a:t>ОБЯЗАТЕЛЬНЫЕ ВЫГРУЗКИ</a:t>
            </a:r>
          </a:p>
        </p:txBody>
      </p:sp>
      <p:sp>
        <p:nvSpPr>
          <p:cNvPr id="23" name="exports">
            <a:extLst xmlns:a="http://schemas.openxmlformats.org/drawingml/2006/main">
              <a:ext uri="{FF2B5EF4-FFF2-40B4-BE49-F238E27FC236}">
                <a16:creationId xmlns:a16="http://schemas.microsoft.com/office/drawing/2014/main" id="{8AECC52B-D2EC-45BA-B4D9-CFB7DE76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13906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8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8E1"/>
                </a:solidFill>
                <a:latin typeface="Helvetica Neue"/>
                <a:ea typeface="Helvetica Neue"/>
                <a:cs typeface="Helvetica Neue"/>
              </a:rPr>
              <a:t>nodes_roles.csv   /   clusters.csv   /   top_nodes.csv</a:t>
            </a:r>
          </a:p>
        </p:txBody>
      </p:sp>
      <p:sp>
        <p:nvSpPr>
          <p:cNvPr id="24" name="ai">
            <a:extLst xmlns:a="http://schemas.openxmlformats.org/drawingml/2006/main">
              <a:ext uri="{FF2B5EF4-FFF2-40B4-BE49-F238E27FC236}">
                <a16:creationId xmlns:a16="http://schemas.microsoft.com/office/drawing/2014/main" id="{7BCF0032-5254-48B6-AB4C-69B1500B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72350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9ABB2"/>
                </a:solidFill>
                <a:latin typeface="Helvetica Neue"/>
                <a:ea typeface="Helvetica Neue"/>
                <a:cs typeface="Helvetica Neue"/>
              </a:rPr>
              <a:t>AI разбирает вопрос. Сервер получает факты из рассчитанного графа и даёт ссылки на GID.</a:t>
            </a:r>
          </a:p>
        </p:txBody>
      </p:sp>
      <p:sp>
        <p:nvSpPr>
          <p:cNvPr id="25" name="caveat">
            <a:extLst xmlns:a="http://schemas.openxmlformats.org/drawingml/2006/main">
              <a:ext uri="{FF2B5EF4-FFF2-40B4-BE49-F238E27FC236}">
                <a16:creationId xmlns:a16="http://schemas.microsoft.com/office/drawing/2014/main" id="{261AE57B-FA66-40EF-96AB-FD02823E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53375"/>
            <a:ext cx="1390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EC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8EC9FF"/>
                </a:solidFill>
                <a:latin typeface="Helvetica Neue"/>
                <a:ea typeface="Helvetica Neue"/>
                <a:cs typeface="Helvetica Neue"/>
              </a:rPr>
              <a:t>Роли и приоритеты служат гипотезами для проверки, не доказательствами виновности.</a:t>
            </a:r>
          </a:p>
        </p:txBody>
      </p:sp>
    </p:spTree>
    <p:extLst>
      <p:ext uri="{BB962C8B-B14F-4D97-AF65-F5344CB8AC3E}">
        <p14:creationId xmlns:p14="http://schemas.microsoft.com/office/powerpoint/2010/main" val="12185745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2026-09-23T12:58:35.5780000Z</dcterms:created>
  <dcterms:modified xsi:type="dcterms:W3CDTF">2026-09-23T12:58:35.5780000Z</dcterms:modified>
</coreProperties>
</file>